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안녕하십니까. 오늘은 가상의 저잡음 증폭기로 이 양식의 장 구성을 보여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센서 신호가 작아서 증폭기 잡음이 전체 잡음의 64 % 를 차지합니다.</a:t>
            </a:r>
          </a:p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그래서 이번 설계는 증폭기 잡음부터 낮췄습니다.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목표는 잡음 10 nV/√Hz 이하, 전력 200 µW 이하입니다.</a:t>
            </a:r>
          </a:p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입력단 전류를 늘리면 잡음은 줄지만 전력이 늘어서, 두 목표를 함께 만족하는 150 µA 를 골랐습니다.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잡음은 입력 소자의 g_m 에 반비례하고, g_m 은 전류에 비례합니다.</a:t>
            </a:r>
          </a:p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그래서 전류를 입력단에만 쓰고 출력단은 그대로 두었습니다. 전력은 40 % 늘고 잡음은 35 % 줄었습니다.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왼쪽은 온도, 가운데는 공정 corner, 오른쪽은 부하입니다.</a:t>
            </a:r>
          </a:p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가장 나쁜 SS corner 에서도 잡음이 목표 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이득은 14 dB 늘고 UGF 는 약 3 배가 됐습니다.</a:t>
            </a:r>
          </a:p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잡음은 1 MHz 에서 8.5 nV/√Hz 로 목표 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비교표입니다. 굵은 칸이 이 설계가 다른 설계보다 나은 곳입니다.</a:t>
            </a:r>
          </a:p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대가는 입력단이 커서 면적이 가장 크다는 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정리하면, 전류를 입력단에 모아서 전력 한계 안에서 잡음 목표를 달성했습니다.</a:t>
            </a:r>
          </a:p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[질문 받을 때] 질문에 맞는 줄의 장 번호를 누르고 Enter 를 치면 그 장으로 갑니다 (발표 보기).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(질문 대비) 잡음은 제곱으로 더해서, 각 블록의 몫은 제곱 비로 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(질문 대비) 계단 입력 뒤 332 ns 에 ±1 % 안으로 들어옵니다.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785366"/>
            <a:ext cx="10566400" cy="198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en-US" cap="all" spc="200">
                <a:solidFill>
                  <a:srgbClr val="767676"/>
                </a:solidFill>
                <a:latin typeface="Arial"/>
                <a:ea typeface="Noto Sans KR"/>
                <a:cs typeface="Arial"/>
              </a:rPr>
              <a:t>Team Seminar · Demo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2212086"/>
            <a:ext cx="2070100" cy="38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2478786"/>
            <a:ext cx="10566400" cy="10241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32"/>
              </a:lnSpc>
            </a:pPr>
            <a:r>
              <a:rPr sz="3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Trading Power for Noise:</a:t>
            </a:r>
          </a:p>
          <a:p>
            <a:pPr algn="l">
              <a:lnSpc>
                <a:spcPts val="4032"/>
              </a:lnSpc>
            </a:pPr>
            <a:r>
              <a:rPr sz="3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A Demo Low-Noise Amplifier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731514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simple-pt 양식 예시 — 가상의 증폭기와 가짜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290314"/>
            <a:ext cx="10566400" cy="264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Your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4605274"/>
            <a:ext cx="10566400" cy="264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0" lang="en-US">
                <a:solidFill>
                  <a:srgbClr val="767676"/>
                </a:solidFill>
                <a:latin typeface="Arial"/>
                <a:ea typeface="Noto Sans KR"/>
                <a:cs typeface="Arial"/>
              </a:rPr>
              <a:t>Dept. ·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6268720"/>
            <a:ext cx="10566400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 lang="en-US">
                <a:solidFill>
                  <a:srgbClr val="767676"/>
                </a:solidFill>
                <a:latin typeface="Arial"/>
                <a:ea typeface="Noto Sans KR"/>
                <a:cs typeface="Arial"/>
              </a:rPr>
              <a:t>YYYY-MM-DD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10566400" cy="379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90"/>
              </a:lnSpc>
            </a:pPr>
            <a:r>
              <a:rPr sz="2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91313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작은 센서 신호 — 증폭기 잡음이 전체 잡음의 대부분 차지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5561330"/>
            <a:ext cx="10566400" cy="280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ko-KR">
                <a:solidFill>
                  <a:srgbClr val="B4161E"/>
                </a:solidFill>
                <a:latin typeface="Arial"/>
                <a:ea typeface="Noto Sans KR"/>
                <a:cs typeface="Arial"/>
              </a:rPr>
              <a:t>잡음 예산의 64 % 가 증폭기 — 잡음부터 낮춤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611630"/>
            <a:ext cx="5283200" cy="231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Noise budget (previous design)</a:t>
            </a:r>
          </a:p>
        </p:txBody>
      </p:sp>
      <p:pic>
        <p:nvPicPr>
          <p:cNvPr id="6" name="Picture 5" descr="noise budge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918970"/>
            <a:ext cx="4648200" cy="309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800" y="5093970"/>
            <a:ext cx="4648200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증폭기 몫 64 % — 다른 블록을 줄여도 효과 작음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400" y="1918970"/>
            <a:ext cx="5511800" cy="3388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2720" indent="-172720">
              <a:lnSpc>
                <a:spcPts val="2320"/>
              </a:lnSpc>
              <a:spcAft>
                <a:spcPts val="800"/>
              </a:spcAft>
              <a:buFont typeface="Arial"/>
              <a:buChar char="•"/>
            </a:pPr>
            <a:r>
              <a:rPr sz="16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센서 출력은 수 µV 수준</a:t>
            </a:r>
          </a:p>
          <a:p>
            <a:pPr algn="l" marL="172720" indent="-172720">
              <a:lnSpc>
                <a:spcPts val="2320"/>
              </a:lnSpc>
              <a:spcAft>
                <a:spcPts val="800"/>
              </a:spcAft>
              <a:buFont typeface="Arial"/>
              <a:buChar char="•"/>
            </a:pPr>
            <a:r>
              <a:rPr sz="16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증폭기 입력 환산 잡음이 SNR 결정</a:t>
            </a:r>
          </a:p>
          <a:p>
            <a:pPr algn="l" marL="172720" indent="-172720">
              <a:lnSpc>
                <a:spcPts val="2320"/>
              </a:lnSpc>
              <a:buFont typeface="Arial"/>
              <a:buChar char="•"/>
            </a:pPr>
            <a:r>
              <a:rPr sz="16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전력은 그대로 두고 잡음만 낮추기 어려움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5200" y="6268720"/>
            <a:ext cx="1524000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ts val="1439"/>
              </a:lnSpc>
            </a:pPr>
            <a:r>
              <a:rPr sz="1200" b="0" lang="en-US">
                <a:solidFill>
                  <a:srgbClr val="767676"/>
                </a:solidFill>
                <a:latin typeface="Arial"/>
                <a:ea typeface="Noto Sans KR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10566400" cy="379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90"/>
              </a:lnSpc>
            </a:pPr>
            <a:r>
              <a:rPr sz="2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Design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91313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입력 환산 잡음 10 nV/√Hz 이하, 전력 200 µW 이하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5561330"/>
            <a:ext cx="10566400" cy="280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ko-KR">
                <a:solidFill>
                  <a:srgbClr val="B4161E"/>
                </a:solidFill>
                <a:latin typeface="Arial"/>
                <a:ea typeface="Noto Sans KR"/>
                <a:cs typeface="Arial"/>
              </a:rPr>
              <a:t>입력단 150 µA — 잡음·전력 목표 동시 충족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611630"/>
            <a:ext cx="5283200" cy="231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Noise vs. input-stage current</a:t>
            </a:r>
          </a:p>
        </p:txBody>
      </p:sp>
      <p:pic>
        <p:nvPicPr>
          <p:cNvPr id="6" name="Picture 5" descr="noise vs curr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918970"/>
            <a:ext cx="4648200" cy="309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800" y="5093970"/>
            <a:ext cx="4648200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회색 띠는 전력 한계 밖 — 150 µA 에서 두 목표 모두 충족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400" y="1918970"/>
            <a:ext cx="5511800" cy="3388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2720" indent="-172720">
              <a:lnSpc>
                <a:spcPts val="2320"/>
              </a:lnSpc>
              <a:spcAft>
                <a:spcPts val="800"/>
              </a:spcAft>
              <a:buFont typeface="Arial"/>
              <a:buChar char="•"/>
            </a:pPr>
            <a:r>
              <a:rPr sz="16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잡음은 입력단 전류의 제곱근에 반비례</a:t>
            </a:r>
          </a:p>
          <a:p>
            <a:pPr algn="l" marL="172720" indent="-172720">
              <a:lnSpc>
                <a:spcPts val="2320"/>
              </a:lnSpc>
              <a:spcAft>
                <a:spcPts val="800"/>
              </a:spcAft>
              <a:buFont typeface="Arial"/>
              <a:buChar char="•"/>
            </a:pPr>
            <a:r>
              <a:rPr sz="16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전력 = 1.0 V × (입력단 전류 + 30 µA)</a:t>
            </a:r>
          </a:p>
          <a:p>
            <a:pPr algn="l" marL="172720" indent="-172720">
              <a:lnSpc>
                <a:spcPts val="2320"/>
              </a:lnSpc>
              <a:buFont typeface="Arial"/>
              <a:buChar char="•"/>
            </a:pPr>
            <a:r>
              <a:rPr sz="1600" b="1" lang="en-US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150 µA</a:t>
            </a:r>
            <a:r>
              <a:rPr sz="16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 — 잡음 8.5 nV/√Hz, 전력 180 µW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5200" y="6268720"/>
            <a:ext cx="1524000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ts val="1439"/>
              </a:lnSpc>
            </a:pPr>
            <a:r>
              <a:rPr sz="1200" b="0" lang="en-US">
                <a:solidFill>
                  <a:srgbClr val="767676"/>
                </a:solidFill>
                <a:latin typeface="Arial"/>
                <a:ea typeface="Noto Sans KR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10566400" cy="379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90"/>
              </a:lnSpc>
            </a:pPr>
            <a:r>
              <a:rPr sz="2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Key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91313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입력단 전류로 g</a:t>
            </a:r>
            <a:r>
              <a:rPr sz="2000" b="0" lang="en-US" baseline="-25000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m</a:t>
            </a:r>
            <a:r>
              <a:rPr sz="20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 을 키워 잡음 감소 — 출력단은 최소 전류 유지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5561330"/>
            <a:ext cx="10566400" cy="280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ko-KR">
                <a:solidFill>
                  <a:srgbClr val="B4161E"/>
                </a:solidFill>
                <a:latin typeface="Arial"/>
                <a:ea typeface="Noto Sans KR"/>
                <a:cs typeface="Arial"/>
              </a:rPr>
              <a:t>전력 +40 % 로 잡음 −35 % — 전류는 필요한 곳에만 사용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1611630"/>
            <a:ext cx="10566400" cy="1866902"/>
          </a:xfrm>
          <a:prstGeom prst="roundRect">
            <a:avLst>
              <a:gd name="adj" fmla="val 2721"/>
            </a:avLst>
          </a:prstGeom>
          <a:solidFill>
            <a:srgbClr val="F5F5F3"/>
          </a:solidFill>
          <a:ln w="9525">
            <a:solidFill>
              <a:srgbClr val="E5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equ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939" y="1840230"/>
            <a:ext cx="960122" cy="10591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1400" y="3001012"/>
            <a:ext cx="10109200" cy="24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59"/>
              </a:lnSpc>
            </a:pPr>
            <a:r>
              <a:rPr sz="14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k 볼츠만 상수, T 절대 온도, γ 잡음 계수, V</a:t>
            </a:r>
            <a:r>
              <a:rPr sz="1400" b="0" lang="en-US" baseline="-25000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ov</a:t>
            </a:r>
            <a:r>
              <a:rPr sz="14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 overdrive 전압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3732532"/>
            <a:ext cx="3386667" cy="1379220"/>
          </a:xfrm>
          <a:prstGeom prst="roundRect">
            <a:avLst>
              <a:gd name="adj" fmla="val 3683"/>
            </a:avLst>
          </a:prstGeom>
          <a:solidFill>
            <a:srgbClr val="F5F5F3"/>
          </a:solidFill>
          <a:ln w="9525">
            <a:solidFill>
              <a:srgbClr val="E5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1400" y="3961132"/>
            <a:ext cx="2929467" cy="28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0"/>
              </a:lnSpc>
            </a:pPr>
            <a:r>
              <a:rPr sz="1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Input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00" y="4321812"/>
            <a:ext cx="2929467" cy="561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1130" indent="-151130">
              <a:lnSpc>
                <a:spcPts val="1959"/>
              </a:lnSpc>
              <a:spcAft>
                <a:spcPts val="500"/>
              </a:spcAft>
              <a:buFont typeface="Arial"/>
              <a:buChar char="•"/>
            </a:pPr>
            <a:r>
              <a:rPr sz="14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전류 1.5 배·소자 2 배</a:t>
            </a:r>
          </a:p>
          <a:p>
            <a:pPr algn="l" marL="151130" indent="-151130">
              <a:lnSpc>
                <a:spcPts val="1959"/>
              </a:lnSpc>
              <a:buFont typeface="Arial"/>
              <a:buChar char="•"/>
            </a:pPr>
            <a:r>
              <a:rPr sz="1400" b="0" lang="en-US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g</a:t>
            </a:r>
            <a:r>
              <a:rPr sz="1400" b="0" lang="en-US" baseline="-25000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m</a:t>
            </a:r>
            <a:r>
              <a:rPr sz="14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 증가로 잡음 감소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2667" y="3732532"/>
            <a:ext cx="3386667" cy="1379220"/>
          </a:xfrm>
          <a:prstGeom prst="roundRect">
            <a:avLst>
              <a:gd name="adj" fmla="val 3683"/>
            </a:avLst>
          </a:prstGeom>
          <a:solidFill>
            <a:srgbClr val="F5F5F3"/>
          </a:solidFill>
          <a:ln w="9525">
            <a:solidFill>
              <a:srgbClr val="E5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1267" y="3961132"/>
            <a:ext cx="2929467" cy="28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0"/>
              </a:lnSpc>
            </a:pPr>
            <a:r>
              <a:rPr sz="1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Output stage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1267" y="4321812"/>
            <a:ext cx="2929467" cy="561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1130" indent="-151130">
              <a:lnSpc>
                <a:spcPts val="1959"/>
              </a:lnSpc>
              <a:spcAft>
                <a:spcPts val="500"/>
              </a:spcAft>
              <a:buFont typeface="Arial"/>
              <a:buChar char="•"/>
            </a:pPr>
            <a:r>
              <a:rPr sz="14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전류 30 µA 그대로</a:t>
            </a:r>
          </a:p>
          <a:p>
            <a:pPr algn="l" marL="151130" indent="-151130">
              <a:lnSpc>
                <a:spcPts val="1959"/>
              </a:lnSpc>
              <a:buFont typeface="Arial"/>
              <a:buChar char="•"/>
            </a:pPr>
            <a:r>
              <a:rPr sz="14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구동 능력만 유지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2533" y="3732532"/>
            <a:ext cx="3386667" cy="1379220"/>
          </a:xfrm>
          <a:prstGeom prst="roundRect">
            <a:avLst>
              <a:gd name="adj" fmla="val 3683"/>
            </a:avLst>
          </a:prstGeom>
          <a:solidFill>
            <a:srgbClr val="F5F5F3"/>
          </a:solidFill>
          <a:ln w="9525">
            <a:solidFill>
              <a:srgbClr val="E5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1133" y="3961132"/>
            <a:ext cx="2929467" cy="28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0"/>
              </a:lnSpc>
            </a:pPr>
            <a:r>
              <a:rPr sz="1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Net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1133" y="4321812"/>
            <a:ext cx="2929467" cy="561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1130" indent="-151130">
              <a:lnSpc>
                <a:spcPts val="1959"/>
              </a:lnSpc>
              <a:spcAft>
                <a:spcPts val="500"/>
              </a:spcAft>
              <a:buFont typeface="Arial"/>
              <a:buChar char="•"/>
            </a:pPr>
            <a:r>
              <a:rPr sz="14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전력 128 → 180 µW (+40 %)</a:t>
            </a:r>
          </a:p>
          <a:p>
            <a:pPr algn="l" marL="151130" indent="-151130">
              <a:lnSpc>
                <a:spcPts val="1959"/>
              </a:lnSpc>
              <a:buFont typeface="Arial"/>
              <a:buChar char="•"/>
            </a:pPr>
            <a:r>
              <a:rPr sz="14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잡음 13 → 8.5 nV/√Hz (−35 %)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55200" y="6268720"/>
            <a:ext cx="1524000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ts val="1439"/>
              </a:lnSpc>
            </a:pPr>
            <a:r>
              <a:rPr sz="1200" b="0" lang="en-US">
                <a:solidFill>
                  <a:srgbClr val="767676"/>
                </a:solidFill>
                <a:latin typeface="Arial"/>
                <a:ea typeface="Noto Sans KR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10566400" cy="379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90"/>
              </a:lnSpc>
            </a:pPr>
            <a:r>
              <a:rPr sz="2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91313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온도·공정·부하가 바뀌어도 이득·잡음·안정도 목표 이내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5561330"/>
            <a:ext cx="10566400" cy="280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ko-KR">
                <a:solidFill>
                  <a:srgbClr val="B4161E"/>
                </a:solidFill>
                <a:latin typeface="Arial"/>
                <a:ea typeface="Noto Sans KR"/>
                <a:cs typeface="Arial"/>
              </a:rPr>
              <a:t>모든 조건에서 목표 이내 — 최악 SS corner 9.6 nV/√Hz (sim)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611630"/>
            <a:ext cx="3386667" cy="231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Temperature</a:t>
            </a:r>
          </a:p>
        </p:txBody>
      </p:sp>
      <p:pic>
        <p:nvPicPr>
          <p:cNvPr id="6" name="Picture 5" descr="gain vs te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918970"/>
            <a:ext cx="3386667" cy="22577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800" y="4252948"/>
            <a:ext cx="3386667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−20–100 °C 에서 이득 72.7 dB 이상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2667" y="1611630"/>
            <a:ext cx="3386667" cy="231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Process corner</a:t>
            </a:r>
          </a:p>
        </p:txBody>
      </p:sp>
      <p:pic>
        <p:nvPicPr>
          <p:cNvPr id="9" name="Picture 8" descr="noise by cor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667" y="1918970"/>
            <a:ext cx="3386667" cy="22577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02667" y="4252948"/>
            <a:ext cx="3386667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가장 나쁜 SS 에서도 9.6 nV/√Hz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2533" y="1611630"/>
            <a:ext cx="3386667" cy="231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Load capacitance</a:t>
            </a:r>
          </a:p>
        </p:txBody>
      </p:sp>
      <p:pic>
        <p:nvPicPr>
          <p:cNvPr id="12" name="Picture 11" descr="pm vs loa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533" y="1918970"/>
            <a:ext cx="3386667" cy="225777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92533" y="4252948"/>
            <a:ext cx="3386667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20 pF 까지 PM 50° 이상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55200" y="6268720"/>
            <a:ext cx="1524000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ts val="1439"/>
              </a:lnSpc>
            </a:pPr>
            <a:r>
              <a:rPr sz="1200" b="0" lang="en-US">
                <a:solidFill>
                  <a:srgbClr val="767676"/>
                </a:solidFill>
                <a:latin typeface="Arial"/>
                <a:ea typeface="Noto Sans KR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10566400" cy="379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90"/>
              </a:lnSpc>
            </a:pPr>
            <a:r>
              <a:rPr sz="2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91313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이전 설계 대비 이득 +14 dB, 잡음 −35 %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5561330"/>
            <a:ext cx="10566400" cy="280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ko-KR">
                <a:solidFill>
                  <a:srgbClr val="B4161E"/>
                </a:solidFill>
                <a:latin typeface="Arial"/>
                <a:ea typeface="Noto Sans KR"/>
                <a:cs typeface="Arial"/>
              </a:rPr>
              <a:t>잡음 8.5 nV/√Hz·전력 180 µW — 두 목표 모두 충족 (sim)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611630"/>
            <a:ext cx="5080000" cy="231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Open-loop gain</a:t>
            </a:r>
          </a:p>
        </p:txBody>
      </p:sp>
      <p:pic>
        <p:nvPicPr>
          <p:cNvPr id="6" name="Picture 5" descr="gain vs freq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918970"/>
            <a:ext cx="4648200" cy="309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800" y="5093970"/>
            <a:ext cx="4648200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UGF 9.4 MHz — 이전 설계의 약 3 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9200" y="1611630"/>
            <a:ext cx="5080000" cy="231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Input-referred noise</a:t>
            </a:r>
          </a:p>
        </p:txBody>
      </p:sp>
      <p:pic>
        <p:nvPicPr>
          <p:cNvPr id="9" name="Picture 8" descr="noise spectru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0" y="1918970"/>
            <a:ext cx="4648200" cy="309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99200" y="5093970"/>
            <a:ext cx="4648200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1 MHz 에서 8.5 nV/√Hz — 목표 10 nV/√Hz 이내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55200" y="6268720"/>
            <a:ext cx="1524000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ts val="1439"/>
              </a:lnSpc>
            </a:pPr>
            <a:r>
              <a:rPr sz="1200" b="0" lang="en-US">
                <a:solidFill>
                  <a:srgbClr val="767676"/>
                </a:solidFill>
                <a:latin typeface="Arial"/>
                <a:ea typeface="Noto Sans KR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10566400" cy="379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90"/>
              </a:lnSpc>
            </a:pPr>
            <a:r>
              <a:rPr sz="2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91313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비슷한 전력에서 가장 낮은 잡음 — 대가는 가장 큰 면적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5561330"/>
            <a:ext cx="10566400" cy="280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ko-KR">
                <a:solidFill>
                  <a:srgbClr val="B4161E"/>
                </a:solidFill>
                <a:latin typeface="Arial"/>
                <a:ea typeface="Noto Sans KR"/>
                <a:cs typeface="Arial"/>
              </a:rPr>
              <a:t>잡음 8.5 nV/√Hz 로 가장 낮음 — 면적 0.08 mm² 는 가장 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611630"/>
          <a:ext cx="10566400" cy="25069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58592"/>
                <a:gridCol w="1901952"/>
                <a:gridCol w="1901952"/>
                <a:gridCol w="1901952"/>
                <a:gridCol w="1901952"/>
              </a:tblGrid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1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/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1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This demo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1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Design A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1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Design B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1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Design C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EDEEE9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Noise (nV/√Hz)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1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8.5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12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9.8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15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Power (µW)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180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150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260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120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Gain (dB)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1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76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70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72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65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UGF (MHz)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9.4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6.0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11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4.0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Area (mm²)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0.08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0.05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0.07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0.04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Data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sim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sim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meas.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meas.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855200" y="6268720"/>
            <a:ext cx="1524000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ts val="1439"/>
              </a:lnSpc>
            </a:pPr>
            <a:r>
              <a:rPr sz="1200" b="0" lang="en-US">
                <a:solidFill>
                  <a:srgbClr val="767676"/>
                </a:solidFill>
                <a:latin typeface="Arial"/>
                <a:ea typeface="Noto Sans KR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10566400" cy="379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90"/>
              </a:lnSpc>
            </a:pPr>
            <a:r>
              <a:rPr sz="2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91313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전류를 입력단에 모아 전력 한계 안에서 잡음 목표 달성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12800" y="1611630"/>
            <a:ext cx="105664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812800" y="1814830"/>
            <a:ext cx="3251200" cy="28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0"/>
              </a:lnSpc>
            </a:pPr>
            <a:r>
              <a:rPr sz="1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175510"/>
            <a:ext cx="3251200" cy="3117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2720" indent="-172720">
              <a:lnSpc>
                <a:spcPts val="2320"/>
              </a:lnSpc>
              <a:buFont typeface="Arial"/>
              <a:buChar char="•"/>
            </a:pPr>
            <a:r>
              <a:rPr sz="16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증폭기가 잡음 예산의 64 %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0400" y="1814830"/>
            <a:ext cx="3251200" cy="28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0"/>
              </a:lnSpc>
            </a:pPr>
            <a:r>
              <a:rPr sz="1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0400" y="2175510"/>
            <a:ext cx="3251200" cy="3117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2720" indent="-172720">
              <a:lnSpc>
                <a:spcPts val="2320"/>
              </a:lnSpc>
              <a:spcAft>
                <a:spcPts val="600"/>
              </a:spcAft>
              <a:buFont typeface="Arial"/>
              <a:buChar char="•"/>
            </a:pPr>
            <a:r>
              <a:rPr sz="16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입력단에만 전류 집중</a:t>
            </a:r>
          </a:p>
          <a:p>
            <a:pPr algn="l" marL="172720" indent="-172720">
              <a:lnSpc>
                <a:spcPts val="2320"/>
              </a:lnSpc>
              <a:buFont typeface="Arial"/>
              <a:buChar char="•"/>
            </a:pPr>
            <a:r>
              <a:rPr sz="16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출력단은 그대로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0" y="1814830"/>
            <a:ext cx="3251200" cy="28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0"/>
              </a:lnSpc>
            </a:pPr>
            <a:r>
              <a:rPr sz="1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2175510"/>
            <a:ext cx="3251200" cy="3117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2720" indent="-172720">
              <a:lnSpc>
                <a:spcPts val="2320"/>
              </a:lnSpc>
              <a:spcAft>
                <a:spcPts val="600"/>
              </a:spcAft>
              <a:buFont typeface="Arial"/>
              <a:buChar char="•"/>
            </a:pPr>
            <a:r>
              <a:rPr sz="1600" b="0" lang="en-US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8.5 nV/√Hz·180 µW (sim)</a:t>
            </a:r>
          </a:p>
          <a:p>
            <a:pPr algn="l" marL="172720" indent="-172720">
              <a:lnSpc>
                <a:spcPts val="2320"/>
              </a:lnSpc>
              <a:buFont typeface="Arial"/>
              <a:buChar char="•"/>
            </a:pPr>
            <a:r>
              <a:rPr sz="16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모든 corner·온도에서 목표 이내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5547360"/>
            <a:ext cx="10566400" cy="294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0" lang="ko-KR">
                <a:solidFill>
                  <a:srgbClr val="767676"/>
                </a:solidFill>
                <a:latin typeface="Arial"/>
                <a:ea typeface="Noto Sans KR"/>
                <a:cs typeface="Arial"/>
              </a:rPr>
              <a:t>남은 일 — 입력단 면적 축소, 실측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55200" y="6268720"/>
            <a:ext cx="1524000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ts val="1439"/>
              </a:lnSpc>
            </a:pPr>
            <a:r>
              <a:rPr sz="1200" b="0" lang="en-US">
                <a:solidFill>
                  <a:srgbClr val="767676"/>
                </a:solidFill>
                <a:latin typeface="Arial"/>
                <a:ea typeface="Noto Sans KR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10566400" cy="379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90"/>
              </a:lnSpc>
            </a:pPr>
            <a:r>
              <a:rPr sz="2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91313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0" lang="en-US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Question Index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611630"/>
          <a:ext cx="5130800" cy="10744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81096"/>
                <a:gridCol w="1128776"/>
                <a:gridCol w="820928"/>
              </a:tblGrid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1" lang="ko-KR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질문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1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Appendix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1" lang="ko-KR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장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EDEEE9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ko-KR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잡음 예산은 어떻게 나눴나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A1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10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ko-KR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출력 settling 은 충분한가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A2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11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855200" y="6268720"/>
            <a:ext cx="1524000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ts val="1439"/>
              </a:lnSpc>
            </a:pPr>
            <a:r>
              <a:rPr sz="1200" b="0" lang="en-US">
                <a:solidFill>
                  <a:srgbClr val="767676"/>
                </a:solidFill>
                <a:latin typeface="Arial"/>
                <a:ea typeface="Noto Sans KR"/>
                <a:cs typeface="Arial"/>
              </a:rPr>
              <a:t>A0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10566400" cy="379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90"/>
              </a:lnSpc>
            </a:pPr>
            <a:r>
              <a:rPr sz="2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Noise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91313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잡음 몫 = (v</a:t>
            </a:r>
            <a:r>
              <a:rPr sz="2000" b="0" lang="en-US" baseline="-25000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n,i</a:t>
            </a:r>
            <a:r>
              <a:rPr sz="2000" b="0" lang="en-US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 / v</a:t>
            </a:r>
            <a:r>
              <a:rPr sz="2000" b="0" lang="en-US" baseline="-25000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n,total</a:t>
            </a:r>
            <a:r>
              <a:rPr sz="2000" b="0" lang="en-US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)</a:t>
            </a:r>
            <a:r>
              <a:rPr sz="2000" b="0" lang="en-US" baseline="30000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2</a:t>
            </a:r>
            <a:r>
              <a:rPr sz="20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 — 이전 설계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5561330"/>
            <a:ext cx="10566400" cy="280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ko-KR">
                <a:solidFill>
                  <a:srgbClr val="B4161E"/>
                </a:solidFill>
                <a:latin typeface="Arial"/>
                <a:ea typeface="Noto Sans KR"/>
                <a:cs typeface="Arial"/>
              </a:rPr>
              <a:t>증폭기 몫 64 % — 증폭기만 줄여도 전체 잡음이 가장 크게 감소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611630"/>
          <a:ext cx="6985000" cy="2148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94000"/>
                <a:gridCol w="2444750"/>
                <a:gridCol w="1746250"/>
              </a:tblGrid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1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Source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1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Noise (nV/√Hz)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EDEE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1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Share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EDEEE9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Amplifier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13.0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1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64 %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Sensor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7.5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21 %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ADC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5.1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10 %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Other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3.6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5 %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1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Total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1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16.3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sz="1400" b="0" lang="en-US">
                          <a:solidFill>
                            <a:srgbClr val="1F1F1F"/>
                          </a:solidFill>
                          <a:latin typeface="Arial"/>
                          <a:ea typeface="Noto Sans KR"/>
                          <a:cs typeface="Arial"/>
                        </a:rPr>
                        <a:t>100 %</a:t>
                      </a: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855200" y="6268720"/>
            <a:ext cx="1524000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ts val="1439"/>
              </a:lnSpc>
            </a:pPr>
            <a:r>
              <a:rPr sz="1200" b="0" lang="en-US">
                <a:solidFill>
                  <a:srgbClr val="767676"/>
                </a:solidFill>
                <a:latin typeface="Arial"/>
                <a:ea typeface="Noto Sans KR"/>
                <a:cs typeface="Arial"/>
              </a:rPr>
              <a:t>A1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10566400" cy="379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90"/>
              </a:lnSpc>
            </a:pPr>
            <a:r>
              <a:rPr sz="26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Settling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91313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계단 입력 뒤 332 ns 안에 ±1 % 이내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5561330"/>
            <a:ext cx="10566400" cy="2806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ko-KR">
                <a:solidFill>
                  <a:srgbClr val="B4161E"/>
                </a:solidFill>
                <a:latin typeface="Arial"/>
                <a:ea typeface="Noto Sans KR"/>
                <a:cs typeface="Arial"/>
              </a:rPr>
              <a:t>332 ns 에 ±1 % 이내 — 1 µs 샘플 주기에 충분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611630"/>
            <a:ext cx="5283200" cy="231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en-US">
                <a:solidFill>
                  <a:srgbClr val="111111"/>
                </a:solidFill>
                <a:latin typeface="Arial"/>
                <a:ea typeface="Noto Sans KR"/>
                <a:cs typeface="Arial"/>
              </a:rPr>
              <a:t>Step response</a:t>
            </a:r>
          </a:p>
        </p:txBody>
      </p:sp>
      <p:pic>
        <p:nvPicPr>
          <p:cNvPr id="6" name="Picture 5" descr="step settl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918970"/>
            <a:ext cx="4648200" cy="309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800" y="5093970"/>
            <a:ext cx="4648200" cy="21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ko-KR">
                <a:solidFill>
                  <a:srgbClr val="4A4A4A"/>
                </a:solidFill>
                <a:latin typeface="Arial"/>
                <a:ea typeface="Noto Sans KR"/>
                <a:cs typeface="Arial"/>
              </a:rPr>
              <a:t>0.5 V 계단, 부하 2 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400" y="1918970"/>
            <a:ext cx="5511800" cy="3388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2720" indent="-172720">
              <a:lnSpc>
                <a:spcPts val="2320"/>
              </a:lnSpc>
              <a:spcAft>
                <a:spcPts val="800"/>
              </a:spcAft>
              <a:buFont typeface="Arial"/>
              <a:buChar char="•"/>
            </a:pPr>
            <a:r>
              <a:rPr sz="16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넘침 약 10 %</a:t>
            </a:r>
          </a:p>
          <a:p>
            <a:pPr algn="l" marL="172720" indent="-172720">
              <a:lnSpc>
                <a:spcPts val="2320"/>
              </a:lnSpc>
              <a:buFont typeface="Arial"/>
              <a:buChar char="•"/>
            </a:pPr>
            <a:r>
              <a:rPr sz="1600" b="0" lang="ko-KR">
                <a:solidFill>
                  <a:srgbClr val="1F1F1F"/>
                </a:solidFill>
                <a:latin typeface="Arial"/>
                <a:ea typeface="Noto Sans KR"/>
                <a:cs typeface="Arial"/>
              </a:rPr>
              <a:t>다음 샘플 (1 µs) 전에 충분히 정착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5200" y="6268720"/>
            <a:ext cx="1524000" cy="1828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ts val="1439"/>
              </a:lnSpc>
            </a:pPr>
            <a:r>
              <a:rPr sz="1200" b="0" lang="en-US">
                <a:solidFill>
                  <a:srgbClr val="767676"/>
                </a:solidFill>
                <a:latin typeface="Arial"/>
                <a:ea typeface="Noto Sans KR"/>
                <a:cs typeface="Arial"/>
              </a:rPr>
              <a:t>A2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Amp — simple-pt example</dc:title>
  <dc:subject/>
  <dc:creator/>
  <cp:keywords/>
  <dc:description/>
  <cp:lastModifiedBy/>
  <cp:revision>1</cp:revision>
  <dcterms:created xsi:type="dcterms:W3CDTF">2000-01-01T00:00:00Z</dcterms:created>
  <dcterms:modified xsi:type="dcterms:W3CDTF">2000-01-01T00:00:00Z</dcterms:modified>
  <cp:category/>
</cp:coreProperties>
</file>